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(₹M)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₹#,##0.0M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76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New Revenue (P4+P5)</c:v>
                  </c:pt>
                  <c:pt idx="1">
                    <c:v>Revenue Lost (P6)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88.3</c:v>
                </c:pt>
                <c:pt idx="1">
                  <c:v>25</c:v>
                </c:pt>
              </c:numCache>
            </c:numRef>
          </c:val>
        </c:ser>
        <c:dLbls>
          <c:numFmt formatCode="₹#,##0.0M" sourceLinked="0"/>
          <c:txPr>
            <a:bodyPr/>
            <a:lstStyle/>
            <a:p>
              <a:pPr>
                <a:defRPr b="0" i="0" strike="noStrike" sz="1200" u="none">
                  <a:solidFill>
                    <a:srgbClr val="1E276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9FC"/>
        </a:solidFill>
        <a:ln>
          <a:noFill/>
        </a:ln>
        <a:effectLst/>
      </c:spPr>
    </c:plotArea>
    <c:plotVisOnly val="1"/>
    <c:dispBlanksAs val="span"/>
  </c:chart>
  <c:spPr>
    <a:solidFill>
      <a:srgbClr val="F7F9F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4206240"/>
            <a:ext cx="4754880" cy="4754880"/>
          </a:xfrm>
          <a:prstGeom prst="ellipse">
            <a:avLst/>
          </a:prstGeom>
          <a:solidFill>
            <a:srgbClr val="CADCFC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097280" y="-1280160"/>
            <a:ext cx="3657600" cy="3657600"/>
          </a:xfrm>
          <a:prstGeom prst="ellipse">
            <a:avLst/>
          </a:prstGeom>
          <a:solidFill>
            <a:srgbClr val="1C7293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81360" y="-822960"/>
            <a:ext cx="2194560" cy="219456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331720"/>
            <a:ext cx="9875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CANNIBALIZATION &amp;</a:t>
            </a:r>
            <a:endParaRPr lang="en-US" sz="40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 SHIFT ANALYSIS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41248" y="3794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  &amp;  Business Insights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41248" y="4526280"/>
            <a:ext cx="502920" cy="3657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5989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 Harish Chavan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Executive Summary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1109960" y="457200"/>
            <a:ext cx="502920" cy="502920"/>
          </a:xfrm>
          <a:prstGeom prst="ellipse">
            <a:avLst/>
          </a:prstGeom>
          <a:solidFill>
            <a:srgbClr val="CADCFC"/>
          </a:solidFill>
          <a:ln/>
          <a:effectLst>
            <a:outerShdw sx="100000" sy="100000" kx="0" ky="0" algn="bl" rotWithShape="0" blurRad="76200" dist="25400" dir="5400000">
              <a:srgbClr val="1E2761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110996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17320"/>
            <a:ext cx="5943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Analysis
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analyzed 60,000 transaction records (Jan 2023 – Dec 2024) to evaluate the impact of launching Products 4 and 5 on our existing portfolio.
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
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launch of Products 4 and 5 generated ₹88.3M in new revenue, but caused a 19% sales drop in our legacy flagship, Product 6.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086600" y="1417320"/>
            <a:ext cx="420624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E2761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60920" y="1536192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₹88.3M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7360920" y="22860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revenue generated by Products 4 &amp; 5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086600" y="3154680"/>
            <a:ext cx="420624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E2761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360920" y="3273552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-19%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7360920" y="40233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decline in Product 6 (legacy flagship)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5074920"/>
            <a:ext cx="10881360" cy="1051560"/>
          </a:xfrm>
          <a:prstGeom prst="roundRect">
            <a:avLst>
              <a:gd name="adj" fmla="val 8696"/>
            </a:avLst>
          </a:prstGeom>
          <a:solidFill>
            <a:srgbClr val="CADCFC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5074920"/>
            <a:ext cx="10332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Impact:  </a:t>
            </a:r>
            <a:pPr algn="l"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portfolio growth is lower than raw revenue suggests due to internal demand shifting.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Cannibalization Metrics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6 experienced severe cannibalization after the new launches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342900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E2761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828800"/>
            <a:ext cx="548640" cy="54864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1E2761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246888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19.3%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68680" y="301752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Volume Drop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329184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Decrease in the post-launch period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43400" y="1600200"/>
            <a:ext cx="342900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E2761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0" y="1828800"/>
            <a:ext cx="548640" cy="54864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1E2761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72000" y="246888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₹25M+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572000" y="301752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Loss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0" y="329184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shifted away from Product 6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46720" y="1600200"/>
            <a:ext cx="342900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E2761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75320" y="1828800"/>
            <a:ext cx="548640" cy="548640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1E2761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27532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275320" y="246888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14.9%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8275320" y="301752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Migration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275320" y="329184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Loyal Product 6 buyers switched to Product 4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" y="40416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Impact (₹M)</a:t>
            </a:r>
            <a:endParaRPr lang="en-US" sz="1400" dirty="0"/>
          </a:p>
        </p:txBody>
      </p:sp>
      <p:graphicFrame>
        <p:nvGraphicFramePr>
          <p:cNvPr id="23" name="Chart 0" descr=""/>
          <p:cNvGraphicFramePr/>
          <p:nvPr/>
        </p:nvGraphicFramePr>
        <p:xfrm>
          <a:off x="640080" y="4434840"/>
          <a:ext cx="1088136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Strategic Recommendations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protect legacy margins while growing market share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E2761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002536"/>
            <a:ext cx="749808" cy="749808"/>
          </a:xfrm>
          <a:prstGeom prst="ellipse">
            <a:avLst/>
          </a:prstGeom>
          <a:solidFill>
            <a:srgbClr val="1E2761"/>
          </a:solidFill>
          <a:ln/>
          <a:effectLst>
            <a:outerShdw sx="100000" sy="100000" kx="0" ky="0" algn="bl" rotWithShape="0" blurRad="76200" dist="25400" dir="5400000">
              <a:srgbClr val="1E2761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002536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965960" y="1929384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Repositioning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965960" y="2295144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Product 4 in the West (where it performs best) and protect Product 6 in the North.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200400"/>
            <a:ext cx="108813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E2761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3419856"/>
            <a:ext cx="749808" cy="749808"/>
          </a:xfrm>
          <a:prstGeom prst="ellipse">
            <a:avLst/>
          </a:prstGeom>
          <a:solidFill>
            <a:srgbClr val="1E2761"/>
          </a:solidFill>
          <a:ln/>
          <a:effectLst>
            <a:outerShdw sx="100000" sy="100000" kx="0" ky="0" algn="bl" rotWithShape="0" blurRad="76200" dist="25400" dir="5400000">
              <a:srgbClr val="1E2761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3419856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965960" y="3346704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Differentiation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965960" y="3712464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Slightly increase the price of Product 4 to widen the gap with Product 6, reducing direct overlap.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617720"/>
            <a:ext cx="108813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E2761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837176"/>
            <a:ext cx="749808" cy="749808"/>
          </a:xfrm>
          <a:prstGeom prst="ellipse">
            <a:avLst/>
          </a:prstGeom>
          <a:solidFill>
            <a:srgbClr val="1E2761"/>
          </a:solidFill>
          <a:ln/>
          <a:effectLst>
            <a:outerShdw sx="100000" sy="100000" kx="0" ky="0" algn="bl" rotWithShape="0" blurRad="76200" dist="25400" dir="5400000">
              <a:srgbClr val="1E2761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14400" y="4837176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965960" y="4764024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Promotions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965960" y="5129784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loyalty discounts for Product 6 to retain the 14.9% of migrating customers.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4389120"/>
            <a:ext cx="4206240" cy="4206240"/>
          </a:xfrm>
          <a:prstGeom prst="ellipse">
            <a:avLst/>
          </a:prstGeom>
          <a:solidFill>
            <a:srgbClr val="1C7293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-1463040"/>
            <a:ext cx="3840480" cy="3840480"/>
          </a:xfrm>
          <a:prstGeom prst="ellipse">
            <a:avLst/>
          </a:prstGeom>
          <a:solidFill>
            <a:srgbClr val="CADCFC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51460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41248" y="35204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Protecting legacy margins while capturing genuine, incremental portfolio growth.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41248" y="4160520"/>
            <a:ext cx="502920" cy="3657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6035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 Harish Chavan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2026-07-18T18:55:29Z</dcterms:created>
  <dcterms:modified xsi:type="dcterms:W3CDTF">2026-07-18T18:55:29Z</dcterms:modified>
</cp:coreProperties>
</file>